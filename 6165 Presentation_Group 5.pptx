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Proxima Nova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0874F2-8A4E-4CD6-ABEC-D32A6E940C6C}">
  <a:tblStyle styleId="{D10874F2-8A4E-4CD6-ABEC-D32A6E940C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ProximaNova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Lato-regular.fntdata"/><Relationship Id="rId27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6768b116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6768b116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6768b116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6768b116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6768b1162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6768b1162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6768b116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6768b116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768b116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6768b116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b4c5fa3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8b4c5fa3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6768b1162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6768b1162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Baseline- ViT:40% ResNet:80%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Improved</a:t>
            </a:r>
            <a:r>
              <a:rPr lang="en">
                <a:solidFill>
                  <a:schemeClr val="dk1"/>
                </a:solidFill>
              </a:rPr>
              <a:t>- ViT:63.5% ResNet:80%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70261907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70261907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Baseline- ViT:20.4% ResNet:46.5%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Improved- ViT:44.2% ResNet:46.5%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6768b1162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6768b1162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6768b116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6768b116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86c29592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86c29592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6768b116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6768b116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ra1ph2/Vision-Transformer" TargetMode="External"/><Relationship Id="rId4" Type="http://schemas.openxmlformats.org/officeDocument/2006/relationships/hyperlink" Target="https://trepo.tuni.fi/bitstream/handle/10024/162546/HukariSanteri.pdf?sequence=2" TargetMode="External"/><Relationship Id="rId10" Type="http://schemas.openxmlformats.org/officeDocument/2006/relationships/hyperlink" Target="https://arxiv.org/pdf/2106.01548" TargetMode="External"/><Relationship Id="rId9" Type="http://schemas.openxmlformats.org/officeDocument/2006/relationships/hyperlink" Target="https://arxiv.org/pdf/2106.01548" TargetMode="External"/><Relationship Id="rId5" Type="http://schemas.openxmlformats.org/officeDocument/2006/relationships/hyperlink" Target="https://trepo.tuni.fi/bitstream/handle/10024/162546/HukariSanteri.pdf?sequence=2" TargetMode="External"/><Relationship Id="rId6" Type="http://schemas.openxmlformats.org/officeDocument/2006/relationships/hyperlink" Target="https://trepo.tuni.fi/bitstream/handle/10024/162546/HukariSanteri.pdf?sequence=2" TargetMode="External"/><Relationship Id="rId7" Type="http://schemas.openxmlformats.org/officeDocument/2006/relationships/hyperlink" Target="https://trepo.tuni.fi/bitstream/handle/10024/162546/HukariSanteri.pdf?sequence=2" TargetMode="External"/><Relationship Id="rId8" Type="http://schemas.openxmlformats.org/officeDocument/2006/relationships/hyperlink" Target="https://arxiv.org/pdf/2106.0154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the Gap: Improving Vision Transformers on Small‑Scale Image Classification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2" y="37766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Chiappetta, Dylan Benson, and Nicholas Cavallaro | Group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Statement:		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Vision Transformers perform poorly on small, low-resolution datasets like CIFAR-10/100 compared to CNNs such as ResNet-18. The problem is how to improve ViT so it can effectively learn from limited spatial information and become competitive on these datasets.</a:t>
            </a:r>
            <a:endParaRPr sz="18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125" y="3082907"/>
            <a:ext cx="3663508" cy="19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1853850"/>
            <a:ext cx="7688700" cy="24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13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253"/>
              <a:buFont typeface="Arial"/>
              <a:buChar char="●"/>
            </a:pPr>
            <a:r>
              <a:rPr lang="en" sz="1253">
                <a:solidFill>
                  <a:srgbClr val="666666"/>
                </a:solidFill>
              </a:rPr>
              <a:t>Transformers have achieved state-of-the-art results in vision tasks</a:t>
            </a:r>
            <a:endParaRPr sz="1253">
              <a:solidFill>
                <a:srgbClr val="666666"/>
              </a:solidFill>
            </a:endParaRPr>
          </a:p>
          <a:p>
            <a:pPr indent="-3081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3"/>
              <a:buChar char="●"/>
            </a:pPr>
            <a:r>
              <a:rPr lang="en" sz="1253">
                <a:solidFill>
                  <a:srgbClr val="666666"/>
                </a:solidFill>
              </a:rPr>
              <a:t>Potential to replace CNNs in computer vision</a:t>
            </a:r>
            <a:endParaRPr sz="1253">
              <a:solidFill>
                <a:srgbClr val="666666"/>
              </a:solidFill>
            </a:endParaRPr>
          </a:p>
          <a:p>
            <a:pPr indent="-3081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3"/>
              <a:buFont typeface="Arial"/>
              <a:buChar char="●"/>
            </a:pPr>
            <a:r>
              <a:rPr lang="en" sz="1253">
                <a:solidFill>
                  <a:srgbClr val="666666"/>
                </a:solidFill>
              </a:rPr>
              <a:t>However, performance drops significantly on small datasets</a:t>
            </a:r>
            <a:endParaRPr sz="1253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n" sz="1253">
                <a:solidFill>
                  <a:srgbClr val="666666"/>
                </a:solidFill>
              </a:rPr>
              <a:t>Why this matters:</a:t>
            </a:r>
            <a:endParaRPr b="1" sz="1253">
              <a:solidFill>
                <a:srgbClr val="666666"/>
              </a:solidFill>
            </a:endParaRPr>
          </a:p>
          <a:p>
            <a:pPr indent="-30813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253"/>
              <a:buFont typeface="Arial"/>
              <a:buChar char="●"/>
            </a:pPr>
            <a:r>
              <a:rPr lang="en" sz="1253">
                <a:solidFill>
                  <a:srgbClr val="666666"/>
                </a:solidFill>
              </a:rPr>
              <a:t>Many real-world applications use limited data</a:t>
            </a:r>
            <a:endParaRPr sz="1253">
              <a:solidFill>
                <a:srgbClr val="666666"/>
              </a:solidFill>
            </a:endParaRPr>
          </a:p>
          <a:p>
            <a:pPr indent="-3081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3"/>
              <a:buFont typeface="Lato"/>
              <a:buChar char="●"/>
            </a:pPr>
            <a:r>
              <a:rPr lang="en" sz="1253">
                <a:solidFill>
                  <a:srgbClr val="666666"/>
                </a:solidFill>
              </a:rPr>
              <a:t>Understanding ViT limitations improves model selection</a:t>
            </a:r>
            <a:endParaRPr sz="1253">
              <a:solidFill>
                <a:srgbClr val="666666"/>
              </a:solidFill>
            </a:endParaRPr>
          </a:p>
          <a:p>
            <a:pPr indent="-3081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3"/>
              <a:buFont typeface="Arial"/>
              <a:buChar char="●"/>
            </a:pPr>
            <a:r>
              <a:rPr lang="en" sz="1253">
                <a:solidFill>
                  <a:srgbClr val="666666"/>
                </a:solidFill>
              </a:rPr>
              <a:t>Adapting ViTs could make them more widely applicable</a:t>
            </a:r>
            <a:endParaRPr sz="1253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n" sz="1253">
                <a:solidFill>
                  <a:srgbClr val="666666"/>
                </a:solidFill>
              </a:rPr>
              <a:t>Goal:</a:t>
            </a:r>
            <a:endParaRPr b="1" sz="1253">
              <a:solidFill>
                <a:srgbClr val="666666"/>
              </a:solidFill>
            </a:endParaRPr>
          </a:p>
          <a:p>
            <a:pPr indent="-30813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253"/>
              <a:buFont typeface="Arial"/>
              <a:buChar char="●"/>
            </a:pPr>
            <a:r>
              <a:rPr lang="en" sz="1253">
                <a:solidFill>
                  <a:srgbClr val="666666"/>
                </a:solidFill>
              </a:rPr>
              <a:t>Bridge the performance gap between ViT and CNNs on CIFAR</a:t>
            </a:r>
            <a:endParaRPr sz="1253">
              <a:solidFill>
                <a:srgbClr val="666666"/>
              </a:solidFill>
            </a:endParaRPr>
          </a:p>
        </p:txBody>
      </p:sp>
      <p:pic>
        <p:nvPicPr>
          <p:cNvPr descr="transfer (Provided by Getty Images)"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625" y="3039050"/>
            <a:ext cx="1793526" cy="179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Related Approaches</a:t>
            </a:r>
            <a:endParaRPr>
              <a:highlight>
                <a:srgbClr val="FFFF00"/>
              </a:highlight>
            </a:endParaRPr>
          </a:p>
        </p:txBody>
      </p:sp>
      <p:graphicFrame>
        <p:nvGraphicFramePr>
          <p:cNvPr id="107" name="Google Shape;107;p16"/>
          <p:cNvGraphicFramePr/>
          <p:nvPr/>
        </p:nvGraphicFramePr>
        <p:xfrm>
          <a:off x="610175" y="199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{D10874F2-8A4E-4CD6-ABEC-D32A6E940C6C}</a:tableStyleId>
              </a:tblPr>
              <a:tblGrid>
                <a:gridCol w="2656275"/>
                <a:gridCol w="2539725"/>
                <a:gridCol w="2731225"/>
              </a:tblGrid>
              <a:tr h="35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Source</a:t>
                      </a:r>
                      <a:endParaRPr b="1" sz="11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Focus</a:t>
                      </a:r>
                      <a:endParaRPr b="1" sz="11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Differences from Our Project</a:t>
                      </a:r>
                      <a:endParaRPr b="1" sz="11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3"/>
                        </a:rPr>
                        <a:t>GitHub – ra1ph2/Vision‑Transformer</a:t>
                      </a:r>
                      <a:endParaRPr sz="9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Implements multiple ViT and ResNet variants in PyTorch, including pretrained and hybrid models, and compares them on CIFAR‑10/100.</a:t>
                      </a:r>
                      <a:endParaRPr sz="10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 built a custom CLS‑free ViT in TensorFlow, trained both models from scratch under one unified pipeline, and focused on patch size, stability, and t‑SNE analysis.</a:t>
                      </a:r>
                      <a:endParaRPr sz="10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4"/>
                        </a:rPr>
                        <a:t>Comparative Study Of Data Efficiency</a:t>
                      </a:r>
                      <a:endParaRPr sz="9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5"/>
                        </a:rPr>
                        <a:t>In Vision Transformer And ResNet-18</a:t>
                      </a:r>
                      <a:endParaRPr sz="9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6"/>
                        </a:rPr>
                        <a:t>Architecture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7"/>
                        </a:rPr>
                        <a:t> (Hukari, 2024)</a:t>
                      </a:r>
                      <a:endParaRPr sz="9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Studies how data efficiency differs between ViT and ResNet‑18 by training on reduced‑size datasets and measuring performance as available data decreases.</a:t>
                      </a:r>
                      <a:endParaRPr sz="10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 train both models from scratch on full CIFAR‑10/100 datasets and focus on patch size, training stability, and embedding analysis rather than data‑efficiency experiments.</a:t>
                      </a:r>
                      <a:endParaRPr sz="10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8"/>
                        </a:rPr>
                        <a:t>When Vision Transformers Outperform</a:t>
                      </a:r>
                      <a:endParaRPr sz="9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9"/>
                        </a:rPr>
                        <a:t>ResNet Without Pre-Training Or Strong Data Augmentations 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0"/>
                        </a:rPr>
                        <a:t>(Chen, 2022)</a:t>
                      </a:r>
                      <a:endParaRPr sz="9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Shows that ViTs can outperform ResNets on by using sharpness‑aware optimization and carefully tuned training, even without pretraining or heavy augmentation on ImageNet-scale data.</a:t>
                      </a:r>
                      <a:endParaRPr sz="10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 do not use sharpness‑aware optimization or ImageNet‑scale training; we train both models from scratch on CIFAR‑10/100 under one unified pipeline and focus on patch size, stability, and t‑SNE analysis.</a:t>
                      </a:r>
                      <a:endParaRPr sz="1000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Approaches: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83700" y="2160900"/>
            <a:ext cx="4188300" cy="26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</a:rPr>
              <a:t>1. Improving Spatial Representation</a:t>
            </a:r>
            <a:endParaRPr b="1" sz="1100">
              <a:solidFill>
                <a:srgbClr val="666666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Char char="●"/>
            </a:pPr>
            <a:r>
              <a:rPr lang="en" sz="900">
                <a:solidFill>
                  <a:srgbClr val="666666"/>
                </a:solidFill>
              </a:rPr>
              <a:t>CIFAR images (32×32) provide very limited spatial resolution</a:t>
            </a:r>
            <a:endParaRPr sz="900">
              <a:solidFill>
                <a:srgbClr val="66666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Char char="●"/>
            </a:pPr>
            <a:r>
              <a:rPr lang="en" sz="900">
                <a:solidFill>
                  <a:srgbClr val="666666"/>
                </a:solidFill>
              </a:rPr>
              <a:t>Large patches result in loss of fine-grained information</a:t>
            </a:r>
            <a:endParaRPr sz="900">
              <a:solidFill>
                <a:srgbClr val="66666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Char char="●"/>
            </a:pPr>
            <a:r>
              <a:rPr lang="en" sz="900">
                <a:solidFill>
                  <a:srgbClr val="666666"/>
                </a:solidFill>
              </a:rPr>
              <a:t>We increase token granularity to better capture local visual features</a:t>
            </a:r>
            <a:endParaRPr sz="900">
              <a:solidFill>
                <a:srgbClr val="66666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Char char="●"/>
            </a:pPr>
            <a:r>
              <a:rPr lang="en" sz="900">
                <a:solidFill>
                  <a:srgbClr val="666666"/>
                </a:solidFill>
              </a:rPr>
              <a:t>Goal: Enable ViT to learn meaningful patterns from small images</a:t>
            </a:r>
            <a:endParaRPr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</a:rPr>
              <a:t>2. Stabilizing Transformer Training</a:t>
            </a:r>
            <a:endParaRPr b="1" sz="1100">
              <a:solidFill>
                <a:srgbClr val="666666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Char char="●"/>
            </a:pPr>
            <a:r>
              <a:rPr lang="en" sz="900">
                <a:solidFill>
                  <a:srgbClr val="666666"/>
                </a:solidFill>
              </a:rPr>
              <a:t>Baseline ViT showed unstable training and weaker convergence</a:t>
            </a:r>
            <a:endParaRPr sz="900">
              <a:solidFill>
                <a:srgbClr val="66666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●"/>
            </a:pPr>
            <a:r>
              <a:rPr lang="en" sz="900">
                <a:solidFill>
                  <a:srgbClr val="666666"/>
                </a:solidFill>
              </a:rPr>
              <a:t>Transformers lack CNN inductive biases → harder to train on small datasets</a:t>
            </a:r>
            <a:endParaRPr sz="900">
              <a:solidFill>
                <a:srgbClr val="66666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●"/>
            </a:pPr>
            <a:r>
              <a:rPr lang="en" sz="900">
                <a:solidFill>
                  <a:srgbClr val="666666"/>
                </a:solidFill>
              </a:rPr>
              <a:t>We simplify and stabilize the architecture to improve:</a:t>
            </a:r>
            <a:endParaRPr sz="900">
              <a:solidFill>
                <a:srgbClr val="66666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</a:rPr>
              <a:t>Consistency across epochs</a:t>
            </a:r>
            <a:endParaRPr sz="900">
              <a:solidFill>
                <a:srgbClr val="66666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</a:rPr>
              <a:t>Generalization performance</a:t>
            </a:r>
            <a:endParaRPr sz="900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rgbClr val="666666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695750" y="1716575"/>
            <a:ext cx="4211100" cy="3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3. Ensuring Fair Comparison with CNN Baseline</a:t>
            </a:r>
            <a:endParaRPr b="1" sz="11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900"/>
              <a:buChar char="●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Both ViT and ResNet were trained under identical conditions: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Same data augmentation pipeline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Same optimizer (AdamW with weight decay)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Same cosine learning rate schedule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Same loss function (with label smoothing)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Char char="●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Ensures performance differences come from architecture, not training setup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4. Evaluating Representation Quality (Beyond Accuracy)</a:t>
            </a:r>
            <a:endParaRPr b="1" sz="11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●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Accuracy alone does not explain model behavior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●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We analyze learned features using: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Embedding extraction from trained models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t-SNE visualization for 2D projection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●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Goal: Compare how well each model: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Separates classes</a:t>
            </a:r>
            <a:endParaRPr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Lato"/>
              <a:buChar char="○"/>
            </a:pPr>
            <a:r>
              <a:rPr lang="en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Learns structured feature representations</a:t>
            </a:r>
            <a:endParaRPr b="1" sz="9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Method: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1949725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CLS-free ViT implementation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Removed CLS token for stability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GlobalAveragePooling over tokens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Fully Keras‑compatible (no symbolic tensor errors)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Patch size optimization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Reduced patch size to 8×8 for CIFAR resolution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Increased token granularity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Unified training pipeline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Same augmentation, optimizer, LR schedule, and loss for both models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Ensures fair comparison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</a:t>
            </a:r>
            <a:r>
              <a:rPr lang="en" sz="1100"/>
              <a:t>mbedding extraction and t‑SNE visualization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Built custom embedding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Compared feature separability between ViT and ResNet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t-SNE (t-Distributed Stochastic Neighbor Embedding): a non-linear machine learning algorithm used for dimension reduction, primarily to visualize complex, high-dimensional datasets in 2D or 3D plots</a:t>
            </a:r>
            <a:endParaRPr/>
          </a:p>
        </p:txBody>
      </p:sp>
      <p:pic>
        <p:nvPicPr>
          <p:cNvPr descr="Management strategy vector icon, Planning, workflow structure (Provided by Getty Images)"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7150" y="1465600"/>
            <a:ext cx="1770998" cy="177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title="architect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2199" y="1318638"/>
            <a:ext cx="3568300" cy="20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 Baseline: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103100" y="2503525"/>
            <a:ext cx="1298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CIFAR 10:</a:t>
            </a:r>
            <a:endParaRPr/>
          </a:p>
        </p:txBody>
      </p:sp>
      <p:pic>
        <p:nvPicPr>
          <p:cNvPr id="129" name="Google Shape;129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188" y="1895688"/>
            <a:ext cx="4190626" cy="159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5200" y="3521625"/>
            <a:ext cx="4235829" cy="15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79625" y="4097075"/>
            <a:ext cx="11040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CIFAR 100: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5552950" y="1895700"/>
            <a:ext cx="35025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935"/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CIFAR‑10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35"/>
              <a:buFont typeface="Arial"/>
              <a:buChar char="●"/>
            </a:pPr>
            <a:r>
              <a:rPr lang="en" sz="935">
                <a:latin typeface="Arial"/>
                <a:ea typeface="Arial"/>
                <a:cs typeface="Arial"/>
                <a:sym typeface="Arial"/>
              </a:rPr>
              <a:t>Smooth loss decrease and tightly aligned train/val curves: stable learning, low overfitting</a:t>
            </a:r>
            <a:endParaRPr sz="935"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35"/>
              <a:buFont typeface="Arial"/>
              <a:buChar char="●"/>
            </a:pPr>
            <a:r>
              <a:rPr lang="en" sz="935">
                <a:latin typeface="Arial"/>
                <a:ea typeface="Arial"/>
                <a:cs typeface="Arial"/>
                <a:sym typeface="Arial"/>
              </a:rPr>
              <a:t>Accuracy improves steadily but plateaus earl</a:t>
            </a:r>
            <a:r>
              <a:rPr lang="en" sz="935">
                <a:latin typeface="Arial"/>
                <a:ea typeface="Arial"/>
                <a:cs typeface="Arial"/>
                <a:sym typeface="Arial"/>
              </a:rPr>
              <a:t>y</a:t>
            </a:r>
            <a:endParaRPr sz="935"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35"/>
              <a:buFont typeface="Arial"/>
              <a:buChar char="●"/>
            </a:pPr>
            <a:r>
              <a:rPr lang="en" sz="935">
                <a:latin typeface="Arial"/>
                <a:ea typeface="Arial"/>
                <a:cs typeface="Arial"/>
                <a:sym typeface="Arial"/>
              </a:rPr>
              <a:t>Overall performance modest (~40%) but consistent with ViT trained from scratch</a:t>
            </a:r>
            <a:endParaRPr sz="9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935"/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CIFAR‑100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35"/>
              <a:buFont typeface="Arial"/>
              <a:buChar char="●"/>
            </a:pPr>
            <a:r>
              <a:rPr lang="en" sz="935">
                <a:latin typeface="Arial"/>
                <a:ea typeface="Arial"/>
                <a:cs typeface="Arial"/>
                <a:sym typeface="Arial"/>
              </a:rPr>
              <a:t>Higher loss and slower convergence: dataset complexity impacts ViT more strongly</a:t>
            </a:r>
            <a:endParaRPr sz="935"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35"/>
              <a:buFont typeface="Arial"/>
              <a:buChar char="●"/>
            </a:pPr>
            <a:r>
              <a:rPr lang="en" sz="935">
                <a:latin typeface="Arial"/>
                <a:ea typeface="Arial"/>
                <a:cs typeface="Arial"/>
                <a:sym typeface="Arial"/>
              </a:rPr>
              <a:t>Train/val curves remain close and a</a:t>
            </a:r>
            <a:r>
              <a:rPr lang="en" sz="935">
                <a:latin typeface="Arial"/>
                <a:ea typeface="Arial"/>
                <a:cs typeface="Arial"/>
                <a:sym typeface="Arial"/>
              </a:rPr>
              <a:t>ccuracy improves steadily but plateaus early again</a:t>
            </a:r>
            <a:endParaRPr sz="935"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35"/>
              <a:buFont typeface="Arial"/>
              <a:buChar char="●"/>
            </a:pPr>
            <a:r>
              <a:rPr lang="en" sz="935">
                <a:latin typeface="Arial"/>
                <a:ea typeface="Arial"/>
                <a:cs typeface="Arial"/>
                <a:sym typeface="Arial"/>
              </a:rPr>
              <a:t>Accuracy remains low (~20%): ViT struggles without large‑scale pretraining</a:t>
            </a:r>
            <a:endParaRPr sz="110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7650" y="1258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(CIFAR-10):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5248900" y="1449100"/>
            <a:ext cx="3684600" cy="3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035">
                <a:solidFill>
                  <a:srgbClr val="666666"/>
                </a:solidFill>
              </a:rPr>
              <a:t>Steady Convergence:</a:t>
            </a:r>
            <a:r>
              <a:rPr lang="en" sz="1035">
                <a:solidFill>
                  <a:srgbClr val="666666"/>
                </a:solidFill>
              </a:rPr>
              <a:t> Training shows consistent improvement, with accuracy peaking near 80% over 25 epochs.</a:t>
            </a:r>
            <a:endParaRPr sz="1035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035">
                <a:solidFill>
                  <a:srgbClr val="666666"/>
                </a:solidFill>
              </a:rPr>
              <a:t>Training Instability:</a:t>
            </a:r>
            <a:r>
              <a:rPr lang="en" sz="1035">
                <a:solidFill>
                  <a:srgbClr val="666666"/>
                </a:solidFill>
              </a:rPr>
              <a:t> A significant loss spike and accuracy dip occurs around Epoch 10, indicating potential optimizer instability or learning rate sensitivity.</a:t>
            </a:r>
            <a:endParaRPr sz="1035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035">
                <a:solidFill>
                  <a:srgbClr val="666666"/>
                </a:solidFill>
              </a:rPr>
              <a:t>Overfitting Trends:</a:t>
            </a:r>
            <a:r>
              <a:rPr lang="en" sz="1035">
                <a:solidFill>
                  <a:srgbClr val="666666"/>
                </a:solidFill>
              </a:rPr>
              <a:t> Validation loss begins to diverge from training loss in the later stages, suggesting the model is starting to memorize the training set.</a:t>
            </a:r>
            <a:endParaRPr sz="1035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035">
                <a:solidFill>
                  <a:srgbClr val="666666"/>
                </a:solidFill>
              </a:rPr>
              <a:t>Performance Ceiling:</a:t>
            </a:r>
            <a:r>
              <a:rPr lang="en" sz="1035">
                <a:solidFill>
                  <a:srgbClr val="666666"/>
                </a:solidFill>
              </a:rPr>
              <a:t> The "plateau" behavior in validation accuracy suggests that further gains may require advanced data augmentation or longer training schedules.</a:t>
            </a:r>
            <a:endParaRPr sz="1035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lang="en" sz="970">
                <a:solidFill>
                  <a:srgbClr val="666666"/>
                </a:solidFill>
              </a:rPr>
              <a:t>Baseline ViT: 40.1%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lang="en" sz="970">
                <a:solidFill>
                  <a:srgbClr val="666666"/>
                </a:solidFill>
              </a:rPr>
              <a:t>Improved ViT: 63.5%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lang="en" sz="970">
                <a:solidFill>
                  <a:srgbClr val="666666"/>
                </a:solidFill>
              </a:rPr>
              <a:t>ResNet: 80%</a:t>
            </a:r>
            <a:endParaRPr sz="1035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05">
              <a:solidFill>
                <a:srgbClr val="666666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27400" y="2364763"/>
            <a:ext cx="562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ViT: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-2500" y="4050050"/>
            <a:ext cx="8226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ResNet: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2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741553"/>
            <a:ext cx="4371625" cy="1660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25" y="3403000"/>
            <a:ext cx="4371665" cy="1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(CIFAR-100):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46450" y="1719800"/>
            <a:ext cx="4007100" cy="32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970">
                <a:solidFill>
                  <a:srgbClr val="666666"/>
                </a:solidFill>
              </a:rPr>
              <a:t>Convergence &amp; Accuracy:</a:t>
            </a:r>
            <a:r>
              <a:rPr lang="en" sz="970">
                <a:solidFill>
                  <a:srgbClr val="666666"/>
                </a:solidFill>
              </a:rPr>
              <a:t> Consistent training progress across 25 epochs, though peak validation accuracy is significantly lower (~20-35%) than CIFAR-10.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970">
                <a:solidFill>
                  <a:srgbClr val="666666"/>
                </a:solidFill>
              </a:rPr>
              <a:t>Recurrent Instability:</a:t>
            </a:r>
            <a:r>
              <a:rPr lang="en" sz="970">
                <a:solidFill>
                  <a:srgbClr val="666666"/>
                </a:solidFill>
              </a:rPr>
              <a:t> Notable gradient spikes around Epoch 10 mirror the CIFAR-10 results, suggesting a systematic issue with the learning rate schedule.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970">
                <a:solidFill>
                  <a:srgbClr val="666666"/>
                </a:solidFill>
              </a:rPr>
              <a:t>Severe Overfitting:</a:t>
            </a:r>
            <a:r>
              <a:rPr lang="en" sz="970">
                <a:solidFill>
                  <a:srgbClr val="666666"/>
                </a:solidFill>
              </a:rPr>
              <a:t> A widening gap between training and validation metrics indicates the model is struggling to generalize to 100 different classes.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970">
                <a:solidFill>
                  <a:srgbClr val="666666"/>
                </a:solidFill>
              </a:rPr>
              <a:t>Performance:</a:t>
            </a:r>
            <a:r>
              <a:rPr lang="en" sz="970">
                <a:solidFill>
                  <a:srgbClr val="666666"/>
                </a:solidFill>
              </a:rPr>
              <a:t> Despite similar curve shapes, the loss values remain much higher, reflecting the increased complexity of the CIFAR-100 dataset.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970">
                <a:solidFill>
                  <a:srgbClr val="666666"/>
                </a:solidFill>
              </a:rPr>
              <a:t>Baseline ViT: 20.4%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970">
                <a:solidFill>
                  <a:srgbClr val="666666"/>
                </a:solidFill>
              </a:rPr>
              <a:t>Improved ViT: 44.2%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970">
                <a:solidFill>
                  <a:srgbClr val="666666"/>
                </a:solidFill>
              </a:rPr>
              <a:t>ResNet: 46.5%</a:t>
            </a:r>
            <a:endParaRPr sz="97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110">
              <a:solidFill>
                <a:srgbClr val="666666"/>
              </a:solidFill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127400" y="2364763"/>
            <a:ext cx="562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ViT: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-2500" y="3920613"/>
            <a:ext cx="8226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ResNet: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3430614"/>
            <a:ext cx="4111900" cy="156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388" y="1861375"/>
            <a:ext cx="4111869" cy="15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727650" y="1268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 Embeddings t-SNE (CIFAR-10 vs CIFAR-100)</a:t>
            </a:r>
            <a:endParaRPr/>
          </a:p>
        </p:txBody>
      </p:sp>
      <p:pic>
        <p:nvPicPr>
          <p:cNvPr id="158" name="Google Shape;158;p2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25" y="1804000"/>
            <a:ext cx="2951350" cy="316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1353" y="1826250"/>
            <a:ext cx="2988497" cy="316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6491175" y="1887950"/>
            <a:ext cx="25419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Separation:</a:t>
            </a:r>
            <a:r>
              <a:rPr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CIFAR-10 (left) shows distinct, isolated clusters; CIFAR-100 (right) exhibits high overlap.</a:t>
            </a:r>
            <a:endParaRPr sz="12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Granularity:</a:t>
            </a:r>
            <a:r>
              <a:rPr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Clearer decision boundaries in CIFAR-10 vs. high semantic "noise" in CIFAR-100.</a:t>
            </a:r>
            <a:endParaRPr sz="12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Complexity:</a:t>
            </a:r>
            <a:r>
              <a:rPr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Increased label density in CIFAR-100 results in more crowded feature representations.</a:t>
            </a:r>
            <a:endParaRPr sz="12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Performance:</a:t>
            </a:r>
            <a:r>
              <a:rPr lang="en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Highlights the difficulty of fine-grained classification compared to coarse categories.</a:t>
            </a:r>
            <a:endParaRPr sz="12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608700" y="2119125"/>
            <a:ext cx="3842400" cy="25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models train smoothly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ResNet converges faster and </a:t>
            </a:r>
            <a:r>
              <a:rPr lang="en"/>
              <a:t>achieved</a:t>
            </a:r>
            <a:r>
              <a:rPr lang="en"/>
              <a:t> a higher accuracy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ViT is competitive but slightly behind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Training curves show: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Stable loss decrease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 overfitting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Good gerneralization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4679325" y="2119125"/>
            <a:ext cx="3998700" cy="25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CIFAR-100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models struggled more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ResNet outperforms ViT slightly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ViT learns slower and reaches lower accuracy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Reasons: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ViT needs more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CIFAR-100 is fine-grained (less data per category)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CNN inductive bias helps more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Finding a topic that was different from previous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Getting ViT to improve in accuracy past ResNet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models </a:t>
            </a:r>
            <a:r>
              <a:rPr lang="en"/>
              <a:t>struggled</a:t>
            </a:r>
            <a:r>
              <a:rPr lang="en"/>
              <a:t> more on CIFAR-100 (this can be explored more in the future)</a:t>
            </a:r>
            <a:endParaRPr/>
          </a:p>
        </p:txBody>
      </p:sp>
      <p:pic>
        <p:nvPicPr>
          <p:cNvPr id="174" name="Google Shape;174;p24" title="1_CyHxPrF9_Kxo9sHKKNmcs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00" y="952350"/>
            <a:ext cx="3568800" cy="200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Work: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729450" y="2078875"/>
            <a:ext cx="7688700" cy="26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Conclusion</a:t>
            </a:r>
            <a:endParaRPr b="1" sz="15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ViT can learn on CIFAR‑10/100 but: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Needs careful training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Underperforms ResNet without pretraining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CNNs remain superior for small datasets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Future work</a:t>
            </a:r>
            <a:endParaRPr b="1" sz="15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 smaller patch sizes (4x4)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 strong augmentation to reduce overfitting and improve generalization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 regularization with more epochs</a:t>
            </a:r>
            <a:endParaRPr/>
          </a:p>
        </p:txBody>
      </p:sp>
      <p:pic>
        <p:nvPicPr>
          <p:cNvPr descr="Business Idea, Planning, Smart Idea, Innovation Icon (Provided by Getty Images)"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475" y="2992400"/>
            <a:ext cx="2054349" cy="205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